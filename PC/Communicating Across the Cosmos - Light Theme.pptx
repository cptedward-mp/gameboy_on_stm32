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80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853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8EF9-3408-2728-D037-4CA3A9855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0FB69-2607-66D4-DE72-7BFDD8836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7614E-998F-0522-1DC7-0B10D9AC97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69652-EFD3-1926-DCA1-7D50D4BE7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81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0" y="-914400"/>
            <a:ext cx="4754880" cy="4754880"/>
          </a:xfrm>
          <a:prstGeom prst="ellipse">
            <a:avLst/>
          </a:prstGeom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990381" y="-153619"/>
            <a:ext cx="3233318" cy="3233318"/>
          </a:xfrm>
          <a:prstGeom prst="ellipse">
            <a:avLst/>
          </a:prstGeom>
          <a:ln w="12700">
            <a:solidFill>
              <a:srgbClr val="5A4FD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56064" y="512064"/>
            <a:ext cx="1901952" cy="1901952"/>
          </a:xfrm>
          <a:prstGeom prst="ellipse">
            <a:avLst/>
          </a:prstGeom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40080" y="233172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COSMOS</a:t>
            </a:r>
            <a:endParaRPr lang="en-US" sz="46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– 2,12,13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58368" y="5074920"/>
            <a:ext cx="2011680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58368" y="5257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communicate across billions of </a:t>
            </a:r>
            <a:r>
              <a:rPr lang="en-US" sz="1400" dirty="0" err="1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kilometres</a:t>
            </a: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receive signals from objects we can never reach?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966960" y="-1005840"/>
            <a:ext cx="2560320" cy="2560320"/>
          </a:xfrm>
          <a:prstGeom prst="ellipse">
            <a:avLst/>
          </a:prstGeom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376611" y="-596189"/>
            <a:ext cx="1741018" cy="1741018"/>
          </a:xfrm>
          <a:prstGeom prst="ellipse">
            <a:avLst/>
          </a:prstGeom>
          <a:ln w="12700">
            <a:solidFill>
              <a:srgbClr val="5A4FD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735056" y="-237744"/>
            <a:ext cx="1024128" cy="1024128"/>
          </a:xfrm>
          <a:prstGeom prst="ellipse">
            <a:avLst/>
          </a:prstGeom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PROBLEM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Being Communicated?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1481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“Communication” across space doesn’t always mean someone deliberately sent a message.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" y="214884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86968" y="2395728"/>
            <a:ext cx="512064" cy="512064"/>
          </a:xfrm>
          <a:prstGeom prst="ellipse">
            <a:avLst/>
          </a:prstGeom>
          <a:solidFill>
            <a:srgbClr val="DEE3F5"/>
          </a:solidFill>
          <a:ln w="1905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88696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Human-Made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60120" y="3198996"/>
            <a:ext cx="82296" cy="82296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1170432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Spacecraft telemetry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960120" y="3656196"/>
            <a:ext cx="82296" cy="82296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1170432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60120" y="4113396"/>
            <a:ext cx="82296" cy="82296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1170432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data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4389120" y="214884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36008" y="2395728"/>
            <a:ext cx="512064" cy="512064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63600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25780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4709160" y="3198996"/>
            <a:ext cx="82296" cy="82296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4919472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emissions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4709160" y="3656196"/>
            <a:ext cx="82296" cy="82296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4919472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709160" y="4113396"/>
            <a:ext cx="82296" cy="82296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4919472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waves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8138160" y="214884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385048" y="2395728"/>
            <a:ext cx="512064" cy="512064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8385048" y="2395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06840" y="2423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Artificial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8458200" y="3198996"/>
            <a:ext cx="82296" cy="82296"/>
          </a:xfrm>
          <a:prstGeom prst="ellipse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8668512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 signals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8458200" y="3656196"/>
            <a:ext cx="82296" cy="82296"/>
          </a:xfrm>
          <a:prstGeom prst="ellipse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 txBox="1"/>
          <p:nvPr/>
        </p:nvSpPr>
        <p:spPr>
          <a:xfrm>
            <a:off x="8668512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events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1417320" y="53492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DEE3F5"/>
          </a:solidFill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 txBox="1"/>
          <p:nvPr/>
        </p:nvSpPr>
        <p:spPr>
          <a:xfrm>
            <a:off x="1417320" y="5349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SPACECRAFT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4142232" y="5623560"/>
            <a:ext cx="539496" cy="0"/>
          </a:xfrm>
          <a:prstGeom prst="line">
            <a:avLst/>
          </a:prstGeom>
          <a:noFill/>
          <a:ln w="19050">
            <a:solidFill>
              <a:srgbClr val="5B6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4754880" y="53492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DEE3F5"/>
          </a:solidFill>
          <a:ln w="15875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 txBox="1"/>
          <p:nvPr/>
        </p:nvSpPr>
        <p:spPr>
          <a:xfrm>
            <a:off x="4754880" y="5349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ASTRONOMICAL OBJECTS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7479792" y="5623560"/>
            <a:ext cx="539496" cy="0"/>
          </a:xfrm>
          <a:prstGeom prst="line">
            <a:avLst/>
          </a:prstGeom>
          <a:noFill/>
          <a:ln w="19050">
            <a:solidFill>
              <a:srgbClr val="5B6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8092440" y="534924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DEE3F5"/>
          </a:solidFill>
          <a:ln w="1587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 txBox="1"/>
          <p:nvPr/>
        </p:nvSpPr>
        <p:spPr>
          <a:xfrm>
            <a:off x="8092440" y="5349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318004" y="2377439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12164" y="3931919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993124" y="3840479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220724" y="1920239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SYSTEM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Communication System Across Space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540764" y="178307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DEE3F5"/>
          </a:solidFill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1540764" y="178307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61588" y="2171699"/>
            <a:ext cx="274320" cy="0"/>
          </a:xfrm>
          <a:prstGeom prst="line">
            <a:avLst/>
          </a:prstGeom>
          <a:noFill/>
          <a:ln w="19050">
            <a:solidFill>
              <a:srgbClr val="0B8F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90772" y="178307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EAEDF9"/>
          </a:solidFill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890772" y="178307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11596" y="2171699"/>
            <a:ext cx="274320" cy="0"/>
          </a:xfrm>
          <a:prstGeom prst="line">
            <a:avLst/>
          </a:prstGeom>
          <a:noFill/>
          <a:ln w="19050">
            <a:solidFill>
              <a:srgbClr val="0B8F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240780" y="178307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EAEDF9"/>
          </a:solidFill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240780" y="178307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61604" y="2171699"/>
            <a:ext cx="274320" cy="0"/>
          </a:xfrm>
          <a:prstGeom prst="line">
            <a:avLst/>
          </a:prstGeom>
          <a:noFill/>
          <a:ln w="19050">
            <a:solidFill>
              <a:srgbClr val="0B8F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90788" y="178307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DEE3F5"/>
          </a:solidFill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590788" y="178307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flipH="1">
            <a:off x="2556116" y="3314699"/>
            <a:ext cx="7017649" cy="0"/>
          </a:xfrm>
          <a:prstGeom prst="line">
            <a:avLst/>
          </a:prstGeom>
          <a:noFill/>
          <a:ln w="19050">
            <a:solidFill>
              <a:srgbClr val="5A4FD1"/>
            </a:solidFill>
            <a:prstDash val="dash"/>
            <a:tail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 txBox="1"/>
          <p:nvPr/>
        </p:nvSpPr>
        <p:spPr>
          <a:xfrm>
            <a:off x="5151353" y="294893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A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40764" y="397763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DEE3F5"/>
          </a:solidFill>
          <a:ln w="1587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1540764" y="397763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561588" y="4366259"/>
            <a:ext cx="274320" cy="0"/>
          </a:xfrm>
          <a:prstGeom prst="line">
            <a:avLst/>
          </a:prstGeom>
          <a:noFill/>
          <a:ln w="19050">
            <a:solidFill>
              <a:srgbClr val="C97F1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890772" y="397763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EAEDF9"/>
          </a:solidFill>
          <a:ln w="1587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3890772" y="397763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DEMODULATOR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11596" y="4366259"/>
            <a:ext cx="274320" cy="0"/>
          </a:xfrm>
          <a:prstGeom prst="line">
            <a:avLst/>
          </a:prstGeom>
          <a:noFill/>
          <a:ln w="19050">
            <a:solidFill>
              <a:srgbClr val="C97F1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240780" y="397763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EAEDF9"/>
          </a:solidFill>
          <a:ln w="1587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6240780" y="397763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261604" y="4366259"/>
            <a:ext cx="274320" cy="0"/>
          </a:xfrm>
          <a:prstGeom prst="line">
            <a:avLst/>
          </a:prstGeom>
          <a:noFill/>
          <a:ln w="19050">
            <a:solidFill>
              <a:srgbClr val="C97F12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590788" y="3977639"/>
            <a:ext cx="1965960" cy="777240"/>
          </a:xfrm>
          <a:prstGeom prst="roundRect">
            <a:avLst>
              <a:gd name="adj" fmla="val 10588"/>
            </a:avLst>
          </a:prstGeom>
          <a:solidFill>
            <a:srgbClr val="DEE3F5"/>
          </a:solidFill>
          <a:ln w="1587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8590788" y="3977639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5349240"/>
            <a:ext cx="1083564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1700784" y="5541264"/>
            <a:ext cx="347472" cy="347472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B6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2121408" y="5532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306824" y="5541264"/>
            <a:ext cx="347472" cy="347472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B6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4727448" y="5532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912864" y="5541264"/>
            <a:ext cx="347472" cy="347472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B6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7333488" y="5532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518904" y="5541264"/>
            <a:ext cx="347472" cy="347472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B6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9939528" y="5532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pipeline every other slide chips away at, one impairment at a time.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7" name="Shape 31">
            <a:extLst>
              <a:ext uri="{FF2B5EF4-FFF2-40B4-BE49-F238E27FC236}">
                <a16:creationId xmlns:a16="http://schemas.microsoft.com/office/drawing/2014/main" id="{5CE1F820-F385-79FA-503B-57615C229D3F}"/>
              </a:ext>
            </a:extLst>
          </p:cNvPr>
          <p:cNvSpPr/>
          <p:nvPr/>
        </p:nvSpPr>
        <p:spPr>
          <a:xfrm flipH="1">
            <a:off x="2556114" y="3314699"/>
            <a:ext cx="12699" cy="617220"/>
          </a:xfrm>
          <a:prstGeom prst="line">
            <a:avLst/>
          </a:prstGeom>
          <a:noFill/>
          <a:ln w="19050">
            <a:solidFill>
              <a:srgbClr val="5A4FD1"/>
            </a:solidFill>
            <a:prstDash val="dash"/>
            <a:tailEnd type="triangle"/>
          </a:ln>
        </p:spPr>
        <p:txBody>
          <a:bodyPr/>
          <a:lstStyle/>
          <a:p>
            <a:endParaRPr lang="en-IN" dirty="0"/>
          </a:p>
        </p:txBody>
      </p:sp>
      <p:sp>
        <p:nvSpPr>
          <p:cNvPr id="58" name="Shape 31">
            <a:extLst>
              <a:ext uri="{FF2B5EF4-FFF2-40B4-BE49-F238E27FC236}">
                <a16:creationId xmlns:a16="http://schemas.microsoft.com/office/drawing/2014/main" id="{B2DFEDEC-44F2-BC29-B624-99005F4EB20A}"/>
              </a:ext>
            </a:extLst>
          </p:cNvPr>
          <p:cNvSpPr/>
          <p:nvPr/>
        </p:nvSpPr>
        <p:spPr>
          <a:xfrm flipH="1">
            <a:off x="9573765" y="2686051"/>
            <a:ext cx="12699" cy="617220"/>
          </a:xfrm>
          <a:prstGeom prst="line">
            <a:avLst/>
          </a:prstGeom>
          <a:noFill/>
          <a:ln w="19050">
            <a:solidFill>
              <a:srgbClr val="5A4FD1"/>
            </a:solidFill>
            <a:prstDash val="dash"/>
            <a:tailEnd type="triangle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332720" y="5303520"/>
            <a:ext cx="2011680" cy="2011680"/>
          </a:xfrm>
          <a:prstGeom prst="ellipse">
            <a:avLst/>
          </a:prstGeom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654589" y="5625389"/>
            <a:ext cx="1367942" cy="1367942"/>
          </a:xfrm>
          <a:prstGeom prst="ellipse">
            <a:avLst/>
          </a:prstGeom>
          <a:ln w="12700">
            <a:solidFill>
              <a:srgbClr val="5A4FD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0936224" y="5907024"/>
            <a:ext cx="804672" cy="804672"/>
          </a:xfrm>
          <a:prstGeom prst="ellipse">
            <a:avLst/>
          </a:prstGeom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ENEMY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Path Loss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640080" y="1828800"/>
            <a:ext cx="5029200" cy="3977640"/>
          </a:xfrm>
          <a:prstGeom prst="roundRect">
            <a:avLst>
              <a:gd name="adj" fmla="val 2069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960120" y="2103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power falls off with the square of distance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2606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i="1" dirty="0">
                <a:solidFill>
                  <a:srgbClr val="0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r>
              <a:rPr lang="en-US" sz="2000" b="1" i="1" baseline="-40000" dirty="0">
                <a:solidFill>
                  <a:srgbClr val="0B8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en-US" sz="3400" b="1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∝  1 / d</a:t>
            </a:r>
            <a:r>
              <a:rPr lang="en-US" sz="2000" b="1" baseline="30000" dirty="0">
                <a:solidFill>
                  <a:srgbClr val="14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28" name="Shape 26"/>
          <p:cNvSpPr/>
          <p:nvPr/>
        </p:nvSpPr>
        <p:spPr>
          <a:xfrm>
            <a:off x="960120" y="3611880"/>
            <a:ext cx="438912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960120" y="3886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distance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270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¼ received power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distance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84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1/100 received power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0" y="1828800"/>
            <a:ext cx="5577840" cy="3977640"/>
          </a:xfrm>
          <a:prstGeom prst="roundRect">
            <a:avLst>
              <a:gd name="adj" fmla="val 2069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66560" y="3017520"/>
            <a:ext cx="1005840" cy="1005840"/>
          </a:xfrm>
          <a:prstGeom prst="ellipse">
            <a:avLst/>
          </a:prstGeom>
          <a:ln w="1778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46520" y="2697480"/>
            <a:ext cx="1645920" cy="1645920"/>
          </a:xfrm>
          <a:prstGeom prst="ellipse">
            <a:avLst/>
          </a:prstGeom>
          <a:ln w="1397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26480" y="2377440"/>
            <a:ext cx="2286000" cy="2286000"/>
          </a:xfrm>
          <a:prstGeom prst="ellipse">
            <a:avLst/>
          </a:prstGeom>
          <a:ln w="10160">
            <a:solidFill>
              <a:srgbClr val="0B8FB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976872" y="3227832"/>
            <a:ext cx="585216" cy="585216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976872" y="3227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195560" y="3282696"/>
            <a:ext cx="475488" cy="475488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10195560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263640" y="50749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strength thins out as the wavefront spreads over an ever-larger sphere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18">
            <a:extLst>
              <a:ext uri="{FF2B5EF4-FFF2-40B4-BE49-F238E27FC236}">
                <a16:creationId xmlns:a16="http://schemas.microsoft.com/office/drawing/2014/main" id="{DC46E51A-9D7A-6BB1-7927-7BD84F59282F}"/>
              </a:ext>
            </a:extLst>
          </p:cNvPr>
          <p:cNvSpPr/>
          <p:nvPr/>
        </p:nvSpPr>
        <p:spPr>
          <a:xfrm rot="18960847">
            <a:off x="-1380058" y="-1139263"/>
            <a:ext cx="4374951" cy="4298877"/>
          </a:xfrm>
          <a:prstGeom prst="ellipse">
            <a:avLst/>
          </a:prstGeom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DAD98EF0-E001-866E-6FAB-CD5BB45FE9C6}"/>
              </a:ext>
            </a:extLst>
          </p:cNvPr>
          <p:cNvSpPr/>
          <p:nvPr/>
        </p:nvSpPr>
        <p:spPr>
          <a:xfrm rot="18960847">
            <a:off x="-697983" y="74464"/>
            <a:ext cx="2974966" cy="2923235"/>
          </a:xfrm>
          <a:prstGeom prst="ellipse">
            <a:avLst/>
          </a:prstGeom>
          <a:ln w="12700">
            <a:solidFill>
              <a:srgbClr val="5A4FD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20">
            <a:extLst>
              <a:ext uri="{FF2B5EF4-FFF2-40B4-BE49-F238E27FC236}">
                <a16:creationId xmlns:a16="http://schemas.microsoft.com/office/drawing/2014/main" id="{87C8E872-CE85-08E3-BD7D-9DA3ABFF6E42}"/>
              </a:ext>
            </a:extLst>
          </p:cNvPr>
          <p:cNvSpPr/>
          <p:nvPr/>
        </p:nvSpPr>
        <p:spPr>
          <a:xfrm rot="18960847">
            <a:off x="-101167" y="1136473"/>
            <a:ext cx="1749980" cy="1719551"/>
          </a:xfrm>
          <a:prstGeom prst="ellipse">
            <a:avLst/>
          </a:prstGeom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Voyager: Our Longest Phone Call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4937760" cy="3977640"/>
          </a:xfrm>
          <a:prstGeom prst="roundRect">
            <a:avLst>
              <a:gd name="adj" fmla="val 2069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68680" y="2292155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EARTH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24688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23+</a:t>
            </a:r>
            <a:endParaRPr lang="en-US" sz="64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657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 KILOMETRES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8680" y="4251960"/>
            <a:ext cx="420624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86868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still transmitting, decades after launch.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760720" y="182880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07608" y="2194560"/>
            <a:ext cx="512064" cy="512064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6007608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19933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weak received signal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720840" y="235915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arriving on Earth is a fraction of a fraction of a watt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760720" y="320040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007608" y="3566160"/>
            <a:ext cx="512064" cy="512064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007608" y="35661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720840" y="33649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data rates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720840" y="373075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is traded away to keep the link alive at all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60720" y="4572000"/>
            <a:ext cx="5760720" cy="1234440"/>
          </a:xfrm>
          <a:prstGeom prst="roundRect">
            <a:avLst>
              <a:gd name="adj" fmla="val 6667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007608" y="4937760"/>
            <a:ext cx="512064" cy="512064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007608" y="4937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720840" y="47365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for a round trip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720840" y="510235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 and its acknowledgement are separated by real waiting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MOTION CHANGES THE SIGNAL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Shift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away  →  f₀ 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2788920"/>
            <a:ext cx="310896" cy="0"/>
          </a:xfrm>
          <a:prstGeom prst="line">
            <a:avLst/>
          </a:prstGeom>
          <a:noFill/>
          <a:ln w="254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481328" y="2788920"/>
            <a:ext cx="310896" cy="0"/>
          </a:xfrm>
          <a:prstGeom prst="line">
            <a:avLst/>
          </a:prstGeom>
          <a:noFill/>
          <a:ln w="254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048256" y="2788920"/>
            <a:ext cx="310896" cy="0"/>
          </a:xfrm>
          <a:prstGeom prst="line">
            <a:avLst/>
          </a:prstGeom>
          <a:noFill/>
          <a:ln w="254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615184" y="2788920"/>
            <a:ext cx="310896" cy="0"/>
          </a:xfrm>
          <a:prstGeom prst="line">
            <a:avLst/>
          </a:prstGeom>
          <a:noFill/>
          <a:ln w="254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182112" y="2788920"/>
            <a:ext cx="310896" cy="0"/>
          </a:xfrm>
          <a:prstGeom prst="line">
            <a:avLst/>
          </a:prstGeom>
          <a:noFill/>
          <a:ln w="254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749040" y="2788920"/>
            <a:ext cx="310896" cy="0"/>
          </a:xfrm>
          <a:prstGeom prst="line">
            <a:avLst/>
          </a:prstGeom>
          <a:noFill/>
          <a:ln w="254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9144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closer  →  f₀ 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298448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682496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066544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450592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834640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218688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602736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986784" y="4297680"/>
            <a:ext cx="201168" cy="0"/>
          </a:xfrm>
          <a:prstGeom prst="line">
            <a:avLst/>
          </a:prstGeom>
          <a:noFill/>
          <a:ln w="254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080760" y="1828800"/>
            <a:ext cx="5440680" cy="2743200"/>
          </a:xfrm>
          <a:prstGeom prst="roundRect">
            <a:avLst>
              <a:gd name="adj" fmla="val 3000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355080" y="20299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DIRECTLY A RANGE LIMIT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82512" y="2633472"/>
            <a:ext cx="402336" cy="402336"/>
          </a:xfrm>
          <a:prstGeom prst="ellipse">
            <a:avLst/>
          </a:prstGeom>
          <a:solidFill>
            <a:srgbClr val="DEE3F5"/>
          </a:solidFill>
          <a:ln w="1905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6903720" y="256149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distance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903720" y="273897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signal · longer delay · harder acquisition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82512" y="3639312"/>
            <a:ext cx="402336" cy="402336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6903720" y="356733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velocity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903720" y="374481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shift, a frequency problem, not a power one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960120" y="4983480"/>
            <a:ext cx="792011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 shifts the carrier frequency. Distance drains the received power. The receiver must predict and compensate for both separately.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6C69FCD0-FFC3-9AFF-CD10-FFFFAFEF2263}"/>
              </a:ext>
            </a:extLst>
          </p:cNvPr>
          <p:cNvSpPr/>
          <p:nvPr/>
        </p:nvSpPr>
        <p:spPr>
          <a:xfrm rot="4006598">
            <a:off x="9719369" y="-1557293"/>
            <a:ext cx="3281289" cy="3281289"/>
          </a:xfrm>
          <a:prstGeom prst="ellipse">
            <a:avLst/>
          </a:prstGeom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19">
            <a:extLst>
              <a:ext uri="{FF2B5EF4-FFF2-40B4-BE49-F238E27FC236}">
                <a16:creationId xmlns:a16="http://schemas.microsoft.com/office/drawing/2014/main" id="{74C24524-67FB-40A7-4D88-C01C45495A92}"/>
              </a:ext>
            </a:extLst>
          </p:cNvPr>
          <p:cNvSpPr/>
          <p:nvPr/>
        </p:nvSpPr>
        <p:spPr>
          <a:xfrm rot="4006598">
            <a:off x="10447513" y="-829149"/>
            <a:ext cx="2231276" cy="2231276"/>
          </a:xfrm>
          <a:prstGeom prst="ellipse">
            <a:avLst/>
          </a:prstGeom>
          <a:ln w="12700">
            <a:solidFill>
              <a:srgbClr val="5A4FD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47736C37-4E50-58F0-E2ED-BA94110A7A0C}"/>
              </a:ext>
            </a:extLst>
          </p:cNvPr>
          <p:cNvSpPr/>
          <p:nvPr/>
        </p:nvSpPr>
        <p:spPr>
          <a:xfrm rot="4006598">
            <a:off x="11084638" y="-192024"/>
            <a:ext cx="1312516" cy="1312516"/>
          </a:xfrm>
          <a:prstGeom prst="ellipse">
            <a:avLst/>
          </a:prstGeom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DIRECTION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 Is Constantly Transmitting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intentionally, but the signals reveal what is happening out there.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21031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435608" y="2313432"/>
            <a:ext cx="402336" cy="402336"/>
          </a:xfrm>
          <a:prstGeom prst="ellipse">
            <a:avLst/>
          </a:prstGeom>
          <a:solidFill>
            <a:srgbClr val="DEE3F5"/>
          </a:solidFill>
          <a:ln w="1905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731520" y="28346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Pulsars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798064" y="21031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593592" y="2313432"/>
            <a:ext cx="402336" cy="402336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2889504" y="28346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Quasars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56048" y="21031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751576" y="2313432"/>
            <a:ext cx="402336" cy="402336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5047488" y="28346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line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114032" y="21031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909560" y="2313432"/>
            <a:ext cx="402336" cy="402336"/>
          </a:xfrm>
          <a:prstGeom prst="ellipse">
            <a:avLst/>
          </a:prstGeom>
          <a:solidFill>
            <a:srgbClr val="DEE3F5"/>
          </a:solidFill>
          <a:ln w="1905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7205472" y="28346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radio bursts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272016" y="2103120"/>
            <a:ext cx="1993392" cy="1417320"/>
          </a:xfrm>
          <a:prstGeom prst="roundRect">
            <a:avLst>
              <a:gd name="adj" fmla="val 5806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067544" y="2313432"/>
            <a:ext cx="402336" cy="402336"/>
          </a:xfrm>
          <a:prstGeom prst="ellipse">
            <a:avLst/>
          </a:prstGeom>
          <a:solidFill>
            <a:srgbClr val="DEE3F5"/>
          </a:solidFill>
          <a:ln w="1905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9363456" y="283464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 microwave background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379476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601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1967 - THE FIRST PULSAR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60120" y="43891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regular radio pulses were first nicknamed “LGM-1” - Little Green Men. An artificial source was briefly considered before the signal was identified as a rotating neutron star.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778240" y="4553238"/>
            <a:ext cx="746760" cy="0"/>
          </a:xfrm>
          <a:prstGeom prst="line">
            <a:avLst/>
          </a:prstGeom>
          <a:noFill/>
          <a:ln w="19050">
            <a:solidFill>
              <a:srgbClr val="5A4FD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778240" y="4553238"/>
            <a:ext cx="0" cy="579663"/>
          </a:xfrm>
          <a:prstGeom prst="line">
            <a:avLst/>
          </a:prstGeom>
          <a:noFill/>
          <a:ln w="19050">
            <a:solidFill>
              <a:srgbClr val="5A4FD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8485631" y="4245933"/>
            <a:ext cx="585216" cy="585216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6766560" y="514759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“Could it be artificial?”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766560" y="546763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 natural cosmic lighthouse.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THAT MADE HEADLINES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Wow! Signal - 1977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5120640" cy="2880360"/>
          </a:xfrm>
          <a:prstGeom prst="roundRect">
            <a:avLst>
              <a:gd name="adj" fmla="val 2857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14400" y="2264899"/>
            <a:ext cx="82296" cy="82296"/>
          </a:xfrm>
          <a:prstGeom prst="ellipse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1097280" y="20848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the Big Ear radio telescope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2767819"/>
            <a:ext cx="82296" cy="82296"/>
          </a:xfrm>
          <a:prstGeom prst="ellipse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1097280" y="25877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narrowband signal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14400" y="3270739"/>
            <a:ext cx="82296" cy="82296"/>
          </a:xfrm>
          <a:prstGeom prst="ellipse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097280" y="3090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Lasted approximately 72 seconds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3773659"/>
            <a:ext cx="82296" cy="82296"/>
          </a:xfrm>
          <a:prstGeom prst="ellipse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1097280" y="35935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conclusively repeated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14400" y="4276579"/>
            <a:ext cx="82296" cy="82296"/>
          </a:xfrm>
          <a:prstGeom prst="ellipse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1097280" y="40965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remains unresolved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89320" y="1828800"/>
            <a:ext cx="5532120" cy="2880360"/>
          </a:xfrm>
          <a:prstGeom prst="roundRect">
            <a:avLst>
              <a:gd name="adj" fmla="val 2857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26364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A SIGNAL IS ARTIFICIAL?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2555634"/>
            <a:ext cx="73152" cy="73152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44652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Narrowband signals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869680" y="2555634"/>
            <a:ext cx="73152" cy="73152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9052560" y="2377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63640" y="3104274"/>
            <a:ext cx="73152" cy="73152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44652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patterns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869680" y="3104274"/>
            <a:ext cx="73152" cy="73152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905256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Artificial-looking modulation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263640" y="3652914"/>
            <a:ext cx="73152" cy="73152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644652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frequency drift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263640" y="3978807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EAEDF9"/>
          </a:solidFill>
          <a:ln w="1397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6251918" y="396122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760678" y="4212682"/>
            <a:ext cx="228600" cy="0"/>
          </a:xfrm>
          <a:prstGeom prst="line">
            <a:avLst/>
          </a:prstGeom>
          <a:noFill/>
          <a:ln w="19050">
            <a:solidFill>
              <a:srgbClr val="5B6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046720" y="3978807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EAEDF9"/>
          </a:solidFill>
          <a:ln w="1397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8034998" y="396122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543758" y="4212682"/>
            <a:ext cx="228600" cy="0"/>
          </a:xfrm>
          <a:prstGeom prst="line">
            <a:avLst/>
          </a:prstGeom>
          <a:noFill/>
          <a:ln w="19050">
            <a:solidFill>
              <a:srgbClr val="5B628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9829800" y="3978807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EAEDF9"/>
          </a:solidFill>
          <a:ln w="1397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9818078" y="396122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INTENSITY, BIG EAR RECEIVER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" y="5696712"/>
            <a:ext cx="384048" cy="109728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1106424" y="5660136"/>
            <a:ext cx="384048" cy="146304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1572768" y="5678424"/>
            <a:ext cx="384048" cy="128016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2039112" y="5623560"/>
            <a:ext cx="384048" cy="182880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505456" y="5641848"/>
            <a:ext cx="384048" cy="164592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971800" y="5568696"/>
            <a:ext cx="384048" cy="237744"/>
          </a:xfrm>
          <a:prstGeom prst="rect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3438144" y="5513832"/>
            <a:ext cx="384048" cy="292608"/>
          </a:xfrm>
          <a:prstGeom prst="rect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3904488" y="5303520"/>
            <a:ext cx="384048" cy="502920"/>
          </a:xfrm>
          <a:prstGeom prst="rect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370832" y="5029200"/>
            <a:ext cx="384048" cy="777240"/>
          </a:xfrm>
          <a:prstGeom prst="rect">
            <a:avLst/>
          </a:prstGeom>
          <a:solidFill>
            <a:srgbClr val="C97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837176" y="5422392"/>
            <a:ext cx="384048" cy="384048"/>
          </a:xfrm>
          <a:prstGeom prst="rect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303520" y="5605272"/>
            <a:ext cx="384048" cy="201168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769864" y="5660136"/>
            <a:ext cx="384048" cy="146304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236208" y="5687568"/>
            <a:ext cx="384048" cy="118872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6702552" y="5669280"/>
            <a:ext cx="384048" cy="137160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7168896" y="5696712"/>
            <a:ext cx="384048" cy="109728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7635240" y="5678424"/>
            <a:ext cx="384048" cy="128016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101584" y="5650992"/>
            <a:ext cx="384048" cy="155448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8567928" y="5687568"/>
            <a:ext cx="384048" cy="118872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9034272" y="5669280"/>
            <a:ext cx="384048" cy="137160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9500616" y="5696712"/>
            <a:ext cx="384048" cy="109728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9966960" y="5660136"/>
            <a:ext cx="384048" cy="146304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10433304" y="5678424"/>
            <a:ext cx="384048" cy="128016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10899648" y="5687568"/>
            <a:ext cx="384048" cy="118872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11365992" y="5669280"/>
            <a:ext cx="384048" cy="137160"/>
          </a:xfrm>
          <a:prstGeom prst="rect">
            <a:avLst/>
          </a:prstGeom>
          <a:solidFill>
            <a:srgbClr val="CBD1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HUMANS BECAME THE TRANSMITTER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We Sent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60120" y="22860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DEE3F5"/>
          </a:solidFill>
          <a:ln w="15875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6012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29260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Arecibo Message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" y="3749040"/>
            <a:ext cx="278892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96012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message beamed deliberately into deep space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89120" y="19659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22860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DEE3F5"/>
          </a:solidFill>
          <a:ln w="15875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470916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A4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1972–73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709160" y="29260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Plaques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09160" y="3749040"/>
            <a:ext cx="278892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470916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physical, pictorial record of humanity riding along with the spacecraft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196596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458200" y="228600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DEE3F5"/>
          </a:solidFill>
          <a:ln w="1587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845820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29260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 Golden Record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8458200" y="3749040"/>
            <a:ext cx="278892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8458200" y="393192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sounds, music and greetings, pressed onto a phonograph record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THE CHANNEL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Can Bend the Channel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640080" y="1828800"/>
            <a:ext cx="4480560" cy="3977640"/>
          </a:xfrm>
          <a:prstGeom prst="roundRect">
            <a:avLst>
              <a:gd name="adj" fmla="val 2069"/>
            </a:avLst>
          </a:prstGeom>
          <a:solidFill>
            <a:srgbClr val="EAEDF9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1440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Gravitational Lensing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24688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bends spacetime, light follows a curved path around massive objects.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14400" y="3291840"/>
            <a:ext cx="3749040" cy="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96696" y="3540606"/>
            <a:ext cx="292608" cy="292608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141732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Magnification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96696" y="4043526"/>
            <a:ext cx="292608" cy="292608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14173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images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96696" y="4546446"/>
            <a:ext cx="292608" cy="292608"/>
          </a:xfrm>
          <a:prstGeom prst="ellipse">
            <a:avLst/>
          </a:prstGeom>
          <a:solidFill>
            <a:srgbClr val="DEE3F5"/>
          </a:solidFill>
          <a:ln w="1905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1417320" y="4526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rings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49240" y="1828800"/>
            <a:ext cx="6172200" cy="3977640"/>
          </a:xfrm>
          <a:prstGeom prst="roundRect">
            <a:avLst>
              <a:gd name="adj" fmla="val 2069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897880" y="3657600"/>
            <a:ext cx="4937760" cy="0"/>
          </a:xfrm>
          <a:prstGeom prst="line">
            <a:avLst/>
          </a:prstGeom>
          <a:noFill/>
          <a:ln w="12700">
            <a:solidFill>
              <a:srgbClr val="454C70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897880" y="3657600"/>
            <a:ext cx="2468880" cy="0"/>
          </a:xfrm>
          <a:prstGeom prst="line">
            <a:avLst/>
          </a:prstGeom>
          <a:noFill/>
          <a:ln w="2222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366760" y="3657600"/>
            <a:ext cx="2468880" cy="0"/>
          </a:xfrm>
          <a:prstGeom prst="line">
            <a:avLst/>
          </a:prstGeom>
          <a:noFill/>
          <a:ln w="22225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897880" y="3657600"/>
            <a:ext cx="2468880" cy="502920"/>
          </a:xfrm>
          <a:prstGeom prst="line">
            <a:avLst/>
          </a:prstGeom>
          <a:noFill/>
          <a:ln w="19050">
            <a:solidFill>
              <a:srgbClr val="C97F1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 flipV="1">
            <a:off x="8366760" y="3794760"/>
            <a:ext cx="2407920" cy="365760"/>
          </a:xfrm>
          <a:prstGeom prst="line">
            <a:avLst/>
          </a:prstGeom>
          <a:noFill/>
          <a:ln w="19050">
            <a:solidFill>
              <a:srgbClr val="C97F12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544068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19288" y="3310128"/>
            <a:ext cx="694944" cy="694944"/>
          </a:xfrm>
          <a:prstGeom prst="ellipse">
            <a:avLst/>
          </a:prstGeom>
          <a:solidFill>
            <a:srgbClr val="5A4FD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7818120" y="4434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0634472" y="3456432"/>
            <a:ext cx="402336" cy="402336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103784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669280" y="539496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doesn’t always travel through a straight channel.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38160" y="384048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50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Can We Communicate?</a:t>
            </a:r>
            <a:endParaRPr lang="en-US" sz="3400" dirty="0"/>
          </a:p>
        </p:txBody>
      </p:sp>
      <p:sp>
        <p:nvSpPr>
          <p:cNvPr id="22" name="Shape 20"/>
          <p:cNvSpPr/>
          <p:nvPr/>
        </p:nvSpPr>
        <p:spPr>
          <a:xfrm>
            <a:off x="5623560" y="2788920"/>
            <a:ext cx="914400" cy="914400"/>
          </a:xfrm>
          <a:prstGeom prst="ellipse">
            <a:avLst/>
          </a:prstGeom>
          <a:solidFill>
            <a:srgbClr val="DEE3F5"/>
          </a:solidFill>
          <a:ln w="1905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562356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22392" y="1808683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5422392" y="1808683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744969" y="2267265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744969" y="2267265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GAIN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7071619" y="3297690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7071619" y="329769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156367" y="4124027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6156367" y="4124027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88417" y="4124027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4688417" y="4124027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773165" y="3297690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3773165" y="3297690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099815" y="2267265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4099815" y="2267265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326880" y="1874520"/>
            <a:ext cx="2240280" cy="3749040"/>
          </a:xfrm>
          <a:prstGeom prst="roundRect">
            <a:avLst>
              <a:gd name="adj" fmla="val 3673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95554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7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555480" y="2551176"/>
            <a:ext cx="91440" cy="91440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9765792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9601200" y="2752344"/>
            <a:ext cx="0" cy="27432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9555480" y="3172968"/>
            <a:ext cx="91440" cy="91440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9765792" y="3044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9601200" y="3374136"/>
            <a:ext cx="0" cy="27432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9555480" y="3794760"/>
            <a:ext cx="91440" cy="91440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9765792" y="36667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9601200" y="3995928"/>
            <a:ext cx="0" cy="27432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9555480" y="4416552"/>
            <a:ext cx="91440" cy="91440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 txBox="1"/>
          <p:nvPr/>
        </p:nvSpPr>
        <p:spPr>
          <a:xfrm>
            <a:off x="9765792" y="42885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Voyager</a:t>
            </a:r>
            <a:endParaRPr lang="en-US" sz="1350" dirty="0"/>
          </a:p>
        </p:txBody>
      </p:sp>
      <p:sp>
        <p:nvSpPr>
          <p:cNvPr id="58" name="Shape 56"/>
          <p:cNvSpPr/>
          <p:nvPr/>
        </p:nvSpPr>
        <p:spPr>
          <a:xfrm>
            <a:off x="9601200" y="4617720"/>
            <a:ext cx="0" cy="274320"/>
          </a:xfrm>
          <a:prstGeom prst="line">
            <a:avLst/>
          </a:prstGeom>
          <a:noFill/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9555480" y="5038344"/>
            <a:ext cx="91440" cy="91440"/>
          </a:xfrm>
          <a:prstGeom prst="ellipse">
            <a:avLst/>
          </a:prstGeom>
          <a:solidFill>
            <a:srgbClr val="0B8F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 txBox="1"/>
          <p:nvPr/>
        </p:nvSpPr>
        <p:spPr>
          <a:xfrm>
            <a:off x="9765792" y="4910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Stars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640080" y="5806440"/>
            <a:ext cx="10927080" cy="777240"/>
          </a:xfrm>
          <a:prstGeom prst="roundRect">
            <a:avLst>
              <a:gd name="adj" fmla="val 10588"/>
            </a:avLst>
          </a:prstGeom>
          <a:solidFill>
            <a:srgbClr val="DEE3F5"/>
          </a:solidFill>
          <a:ln w="12700">
            <a:solidFill>
              <a:srgbClr val="CBD1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 txBox="1"/>
          <p:nvPr/>
        </p:nvSpPr>
        <p:spPr>
          <a:xfrm>
            <a:off x="914400" y="580644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i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can travel farther than our ability to meaningfully communicate.</a:t>
            </a:r>
            <a:endParaRPr lang="en-US" sz="1650" dirty="0"/>
          </a:p>
        </p:txBody>
      </p:sp>
      <p:sp>
        <p:nvSpPr>
          <p:cNvPr id="63" name="Text 61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31788-AD35-D1D2-19DD-704C8DB4D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A83F7B-6B39-1BCF-D9EC-B26F3F7A704F}"/>
              </a:ext>
            </a:extLst>
          </p:cNvPr>
          <p:cNvSpPr/>
          <p:nvPr/>
        </p:nvSpPr>
        <p:spPr>
          <a:xfrm>
            <a:off x="822960" y="54864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5C7B26-5069-A781-F823-49A26BA06963}"/>
              </a:ext>
            </a:extLst>
          </p:cNvPr>
          <p:cNvSpPr/>
          <p:nvPr/>
        </p:nvSpPr>
        <p:spPr>
          <a:xfrm>
            <a:off x="2194560" y="10058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F94CCE-8F1D-67B5-CFBC-F083F9AD07F6}"/>
              </a:ext>
            </a:extLst>
          </p:cNvPr>
          <p:cNvSpPr/>
          <p:nvPr/>
        </p:nvSpPr>
        <p:spPr>
          <a:xfrm>
            <a:off x="4389120" y="4572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7C2F2F-C401-A52F-E63C-CCBE7F8DA556}"/>
              </a:ext>
            </a:extLst>
          </p:cNvPr>
          <p:cNvSpPr/>
          <p:nvPr/>
        </p:nvSpPr>
        <p:spPr>
          <a:xfrm>
            <a:off x="7223760" y="64008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158E305-3D79-5639-CA51-2DF65DF4431C}"/>
              </a:ext>
            </a:extLst>
          </p:cNvPr>
          <p:cNvSpPr/>
          <p:nvPr/>
        </p:nvSpPr>
        <p:spPr>
          <a:xfrm>
            <a:off x="9692640" y="457200"/>
            <a:ext cx="20320" cy="2032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0C48D1-5E11-09A2-DF3B-7CD9451B02E1}"/>
              </a:ext>
            </a:extLst>
          </p:cNvPr>
          <p:cNvSpPr/>
          <p:nvPr/>
        </p:nvSpPr>
        <p:spPr>
          <a:xfrm>
            <a:off x="11430000" y="1188720"/>
            <a:ext cx="15240" cy="1524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20C6A2-45BD-3B2E-E70D-2610EFF64B1B}"/>
              </a:ext>
            </a:extLst>
          </p:cNvPr>
          <p:cNvSpPr/>
          <p:nvPr/>
        </p:nvSpPr>
        <p:spPr>
          <a:xfrm>
            <a:off x="1463040" y="23774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AE15E91-9046-4ADD-93AE-F5FD8A425D6D}"/>
              </a:ext>
            </a:extLst>
          </p:cNvPr>
          <p:cNvSpPr/>
          <p:nvPr/>
        </p:nvSpPr>
        <p:spPr>
          <a:xfrm>
            <a:off x="10881360" y="2834640"/>
            <a:ext cx="17780" cy="1778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08DF17D-871B-BBFA-FFDB-514B738FEFA1}"/>
              </a:ext>
            </a:extLst>
          </p:cNvPr>
          <p:cNvSpPr/>
          <p:nvPr/>
        </p:nvSpPr>
        <p:spPr>
          <a:xfrm>
            <a:off x="11612880" y="49377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413B61B-CEED-7821-5DC6-9D19069F2550}"/>
              </a:ext>
            </a:extLst>
          </p:cNvPr>
          <p:cNvSpPr/>
          <p:nvPr/>
        </p:nvSpPr>
        <p:spPr>
          <a:xfrm>
            <a:off x="457200" y="393192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62906FB-E09D-71C9-29BB-9EF71FCDCECE}"/>
              </a:ext>
            </a:extLst>
          </p:cNvPr>
          <p:cNvSpPr/>
          <p:nvPr/>
        </p:nvSpPr>
        <p:spPr>
          <a:xfrm>
            <a:off x="640080" y="603504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3C1E259-9E66-5215-C73F-FA62A45061DB}"/>
              </a:ext>
            </a:extLst>
          </p:cNvPr>
          <p:cNvSpPr/>
          <p:nvPr/>
        </p:nvSpPr>
        <p:spPr>
          <a:xfrm>
            <a:off x="3017520" y="6400800"/>
            <a:ext cx="16510" cy="1651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69F1140-E3D6-E00C-10B4-69F2018952F8}"/>
              </a:ext>
            </a:extLst>
          </p:cNvPr>
          <p:cNvSpPr/>
          <p:nvPr/>
        </p:nvSpPr>
        <p:spPr>
          <a:xfrm>
            <a:off x="5943600" y="630936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FDAFAA9-FEA2-09BC-6E4A-5FF2BCC45CDC}"/>
              </a:ext>
            </a:extLst>
          </p:cNvPr>
          <p:cNvSpPr/>
          <p:nvPr/>
        </p:nvSpPr>
        <p:spPr>
          <a:xfrm>
            <a:off x="8778240" y="6492240"/>
            <a:ext cx="19050" cy="1905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8237203-3A20-8856-370D-DA42ABB336C7}"/>
              </a:ext>
            </a:extLst>
          </p:cNvPr>
          <p:cNvSpPr/>
          <p:nvPr/>
        </p:nvSpPr>
        <p:spPr>
          <a:xfrm>
            <a:off x="11338560" y="6217920"/>
            <a:ext cx="13970" cy="1397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D6373B4-8EC7-0DB7-69B2-E2042A48A916}"/>
              </a:ext>
            </a:extLst>
          </p:cNvPr>
          <p:cNvSpPr/>
          <p:nvPr/>
        </p:nvSpPr>
        <p:spPr>
          <a:xfrm>
            <a:off x="5120640" y="45720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D9CDF6A-0ED3-23B4-7648-FD4ED3501E06}"/>
              </a:ext>
            </a:extLst>
          </p:cNvPr>
          <p:cNvSpPr/>
          <p:nvPr/>
        </p:nvSpPr>
        <p:spPr>
          <a:xfrm>
            <a:off x="14166427" y="4981464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C861561-F113-A747-4270-E62802A04D63}"/>
              </a:ext>
            </a:extLst>
          </p:cNvPr>
          <p:cNvSpPr/>
          <p:nvPr/>
        </p:nvSpPr>
        <p:spPr>
          <a:xfrm>
            <a:off x="365760" y="1920240"/>
            <a:ext cx="12700" cy="12700"/>
          </a:xfrm>
          <a:prstGeom prst="ellipse">
            <a:avLst/>
          </a:prstGeom>
          <a:solidFill>
            <a:srgbClr val="1E26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53BCC03-F4CE-D03F-F1AC-197940A4872A}"/>
              </a:ext>
            </a:extLst>
          </p:cNvPr>
          <p:cNvSpPr/>
          <p:nvPr/>
        </p:nvSpPr>
        <p:spPr>
          <a:xfrm>
            <a:off x="4259580" y="1592580"/>
            <a:ext cx="3672840" cy="3672840"/>
          </a:xfrm>
          <a:prstGeom prst="ellipse">
            <a:avLst/>
          </a:prstGeom>
          <a:solidFill>
            <a:srgbClr val="DEE3F5"/>
          </a:solidFill>
          <a:ln w="19050">
            <a:solidFill>
              <a:srgbClr val="0B8FB0"/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0AF120A-FFEB-1BEE-0AAC-C02B24A02163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E1D1440-B3F0-5832-B764-E3A1481CF88F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BB082D5-0223-8CD8-3222-11EE5CD16022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B530F0A-B07B-6C15-E57A-10A937F78B3B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A41180A4-114A-CB22-A75B-3B88976FFB44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5EF81A9-9EAE-29C1-DD2D-9F339B313669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D2D9E801-582E-7B12-145D-8613305C893E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307A1EB4-4601-E91F-0435-4D8F31F03A9D}"/>
              </a:ext>
            </a:extLst>
          </p:cNvPr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54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291B5487-F241-2420-D25A-D7577822CFC8}"/>
              </a:ext>
            </a:extLst>
          </p:cNvPr>
          <p:cNvSpPr txBox="1"/>
          <p:nvPr/>
        </p:nvSpPr>
        <p:spPr>
          <a:xfrm>
            <a:off x="4509135" y="1842135"/>
            <a:ext cx="3173730" cy="3173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B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F4F6EF25-0B52-4403-D7D2-361A7CDA1448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E18CA5A2-3C9D-6D28-6458-8F39A99E82DF}"/>
              </a:ext>
            </a:extLst>
          </p:cNvPr>
          <p:cNvSpPr/>
          <p:nvPr/>
        </p:nvSpPr>
        <p:spPr>
          <a:xfrm>
            <a:off x="5346785" y="-1450984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24">
            <a:extLst>
              <a:ext uri="{FF2B5EF4-FFF2-40B4-BE49-F238E27FC236}">
                <a16:creationId xmlns:a16="http://schemas.microsoft.com/office/drawing/2014/main" id="{B2E1CF0E-B6FE-EF14-8B4F-6AF41C530F74}"/>
              </a:ext>
            </a:extLst>
          </p:cNvPr>
          <p:cNvSpPr txBox="1"/>
          <p:nvPr/>
        </p:nvSpPr>
        <p:spPr>
          <a:xfrm>
            <a:off x="5346785" y="-145098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050" dirty="0"/>
          </a:p>
        </p:txBody>
      </p:sp>
      <p:sp>
        <p:nvSpPr>
          <p:cNvPr id="85" name="Shape 25">
            <a:extLst>
              <a:ext uri="{FF2B5EF4-FFF2-40B4-BE49-F238E27FC236}">
                <a16:creationId xmlns:a16="http://schemas.microsoft.com/office/drawing/2014/main" id="{F3F49F08-D496-8017-4091-B992D0075D92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26">
            <a:extLst>
              <a:ext uri="{FF2B5EF4-FFF2-40B4-BE49-F238E27FC236}">
                <a16:creationId xmlns:a16="http://schemas.microsoft.com/office/drawing/2014/main" id="{3D6F2949-BF4A-E20B-7BDE-A5D961AC5BA5}"/>
              </a:ext>
            </a:extLst>
          </p:cNvPr>
          <p:cNvSpPr/>
          <p:nvPr/>
        </p:nvSpPr>
        <p:spPr>
          <a:xfrm>
            <a:off x="13298169" y="2157984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27">
            <a:extLst>
              <a:ext uri="{FF2B5EF4-FFF2-40B4-BE49-F238E27FC236}">
                <a16:creationId xmlns:a16="http://schemas.microsoft.com/office/drawing/2014/main" id="{1666F961-875D-D4D4-6767-A19FCFBB4C1F}"/>
              </a:ext>
            </a:extLst>
          </p:cNvPr>
          <p:cNvSpPr txBox="1"/>
          <p:nvPr/>
        </p:nvSpPr>
        <p:spPr>
          <a:xfrm>
            <a:off x="13298169" y="215798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GAIN</a:t>
            </a:r>
            <a:endParaRPr lang="en-US" sz="1050" dirty="0"/>
          </a:p>
        </p:txBody>
      </p:sp>
      <p:sp>
        <p:nvSpPr>
          <p:cNvPr id="91" name="Shape 28">
            <a:extLst>
              <a:ext uri="{FF2B5EF4-FFF2-40B4-BE49-F238E27FC236}">
                <a16:creationId xmlns:a16="http://schemas.microsoft.com/office/drawing/2014/main" id="{1584705C-2103-4B4F-B408-7DE5B9FDF9A5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93" name="Shape 29">
            <a:extLst>
              <a:ext uri="{FF2B5EF4-FFF2-40B4-BE49-F238E27FC236}">
                <a16:creationId xmlns:a16="http://schemas.microsoft.com/office/drawing/2014/main" id="{70934A9C-B296-E41F-FFEB-83E06006EF8E}"/>
              </a:ext>
            </a:extLst>
          </p:cNvPr>
          <p:cNvSpPr/>
          <p:nvPr/>
        </p:nvSpPr>
        <p:spPr>
          <a:xfrm>
            <a:off x="13099886" y="4438674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30">
            <a:extLst>
              <a:ext uri="{FF2B5EF4-FFF2-40B4-BE49-F238E27FC236}">
                <a16:creationId xmlns:a16="http://schemas.microsoft.com/office/drawing/2014/main" id="{52C1F1CC-8320-5C78-7588-CE6DFC9F24A3}"/>
              </a:ext>
            </a:extLst>
          </p:cNvPr>
          <p:cNvSpPr txBox="1"/>
          <p:nvPr/>
        </p:nvSpPr>
        <p:spPr>
          <a:xfrm>
            <a:off x="13099886" y="443867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LOSS</a:t>
            </a:r>
            <a:endParaRPr lang="en-US" sz="105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64E7E267-16A3-41D2-A487-28344302CACA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32">
            <a:extLst>
              <a:ext uri="{FF2B5EF4-FFF2-40B4-BE49-F238E27FC236}">
                <a16:creationId xmlns:a16="http://schemas.microsoft.com/office/drawing/2014/main" id="{983BECD3-F001-7D7B-895B-603CF83EE45E}"/>
              </a:ext>
            </a:extLst>
          </p:cNvPr>
          <p:cNvSpPr/>
          <p:nvPr/>
        </p:nvSpPr>
        <p:spPr>
          <a:xfrm>
            <a:off x="5299202" y="8035627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1D0D37F5-107B-A8DD-5946-904D5FD6FDB7}"/>
              </a:ext>
            </a:extLst>
          </p:cNvPr>
          <p:cNvSpPr txBox="1"/>
          <p:nvPr/>
        </p:nvSpPr>
        <p:spPr>
          <a:xfrm>
            <a:off x="5299202" y="8035627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050" dirty="0"/>
          </a:p>
        </p:txBody>
      </p:sp>
      <p:sp>
        <p:nvSpPr>
          <p:cNvPr id="103" name="Shape 34">
            <a:extLst>
              <a:ext uri="{FF2B5EF4-FFF2-40B4-BE49-F238E27FC236}">
                <a16:creationId xmlns:a16="http://schemas.microsoft.com/office/drawing/2014/main" id="{A551F1E3-ED5B-3342-9AC8-DEBC68EA7EC8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05" name="Shape 35">
            <a:extLst>
              <a:ext uri="{FF2B5EF4-FFF2-40B4-BE49-F238E27FC236}">
                <a16:creationId xmlns:a16="http://schemas.microsoft.com/office/drawing/2014/main" id="{C4E8B46C-4010-5B1F-C393-76B344A7910B}"/>
              </a:ext>
            </a:extLst>
          </p:cNvPr>
          <p:cNvSpPr/>
          <p:nvPr/>
        </p:nvSpPr>
        <p:spPr>
          <a:xfrm>
            <a:off x="-2618317" y="6416716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5A4FD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36">
            <a:extLst>
              <a:ext uri="{FF2B5EF4-FFF2-40B4-BE49-F238E27FC236}">
                <a16:creationId xmlns:a16="http://schemas.microsoft.com/office/drawing/2014/main" id="{6D2E7334-0285-D55C-F57B-99818BB4BFE9}"/>
              </a:ext>
            </a:extLst>
          </p:cNvPr>
          <p:cNvSpPr txBox="1"/>
          <p:nvPr/>
        </p:nvSpPr>
        <p:spPr>
          <a:xfrm>
            <a:off x="-2618317" y="6416716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050" dirty="0"/>
          </a:p>
        </p:txBody>
      </p:sp>
      <p:sp>
        <p:nvSpPr>
          <p:cNvPr id="109" name="Shape 37">
            <a:extLst>
              <a:ext uri="{FF2B5EF4-FFF2-40B4-BE49-F238E27FC236}">
                <a16:creationId xmlns:a16="http://schemas.microsoft.com/office/drawing/2014/main" id="{A22EF900-5A79-C797-A138-44817C45350F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38">
            <a:extLst>
              <a:ext uri="{FF2B5EF4-FFF2-40B4-BE49-F238E27FC236}">
                <a16:creationId xmlns:a16="http://schemas.microsoft.com/office/drawing/2014/main" id="{CF2503B3-9A75-3F52-632A-0A27B7F529B9}"/>
              </a:ext>
            </a:extLst>
          </p:cNvPr>
          <p:cNvSpPr/>
          <p:nvPr/>
        </p:nvSpPr>
        <p:spPr>
          <a:xfrm>
            <a:off x="-2984753" y="3275092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C97F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39">
            <a:extLst>
              <a:ext uri="{FF2B5EF4-FFF2-40B4-BE49-F238E27FC236}">
                <a16:creationId xmlns:a16="http://schemas.microsoft.com/office/drawing/2014/main" id="{864A5D65-29F9-47C8-622E-1D8D3590AFA4}"/>
              </a:ext>
            </a:extLst>
          </p:cNvPr>
          <p:cNvSpPr txBox="1"/>
          <p:nvPr/>
        </p:nvSpPr>
        <p:spPr>
          <a:xfrm>
            <a:off x="-2984753" y="3275092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</a:t>
            </a:r>
            <a:endParaRPr lang="en-US" sz="1050" dirty="0"/>
          </a:p>
        </p:txBody>
      </p:sp>
      <p:sp>
        <p:nvSpPr>
          <p:cNvPr id="115" name="Shape 40">
            <a:extLst>
              <a:ext uri="{FF2B5EF4-FFF2-40B4-BE49-F238E27FC236}">
                <a16:creationId xmlns:a16="http://schemas.microsoft.com/office/drawing/2014/main" id="{BDDC383A-6527-EB6D-81AA-D6F02D0EE30F}"/>
              </a:ext>
            </a:extLst>
          </p:cNvPr>
          <p:cNvSpPr/>
          <p:nvPr/>
        </p:nvSpPr>
        <p:spPr>
          <a:xfrm>
            <a:off x="6080760" y="3246120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17" name="Shape 41">
            <a:extLst>
              <a:ext uri="{FF2B5EF4-FFF2-40B4-BE49-F238E27FC236}">
                <a16:creationId xmlns:a16="http://schemas.microsoft.com/office/drawing/2014/main" id="{D86817CC-BE12-9ECC-31F4-E01A9A542E54}"/>
              </a:ext>
            </a:extLst>
          </p:cNvPr>
          <p:cNvSpPr/>
          <p:nvPr/>
        </p:nvSpPr>
        <p:spPr>
          <a:xfrm>
            <a:off x="-2326385" y="969264"/>
            <a:ext cx="1316736" cy="438912"/>
          </a:xfrm>
          <a:prstGeom prst="roundRect">
            <a:avLst>
              <a:gd name="adj" fmla="val 50000"/>
            </a:avLst>
          </a:prstGeom>
          <a:solidFill>
            <a:srgbClr val="EAEDF9"/>
          </a:solidFill>
          <a:ln w="12700">
            <a:solidFill>
              <a:srgbClr val="0B8F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42">
            <a:extLst>
              <a:ext uri="{FF2B5EF4-FFF2-40B4-BE49-F238E27FC236}">
                <a16:creationId xmlns:a16="http://schemas.microsoft.com/office/drawing/2014/main" id="{D1D0D545-410D-3930-7D81-FA79139176FE}"/>
              </a:ext>
            </a:extLst>
          </p:cNvPr>
          <p:cNvSpPr txBox="1"/>
          <p:nvPr/>
        </p:nvSpPr>
        <p:spPr>
          <a:xfrm>
            <a:off x="-2326385" y="969264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780122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610</Words>
  <Application>Microsoft Office PowerPoint</Application>
  <PresentationFormat>Widescreen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SIDDHANT GUPTA - 240907086 - MITMPL</cp:lastModifiedBy>
  <cp:revision>2</cp:revision>
  <dcterms:created xsi:type="dcterms:W3CDTF">2026-09-07T19:05:01Z</dcterms:created>
  <dcterms:modified xsi:type="dcterms:W3CDTF">2026-09-07T19:32:37Z</dcterms:modified>
</cp:coreProperties>
</file>